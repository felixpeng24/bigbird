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2D2D"/>
                </a:solidFill>
                <a:latin typeface="Calibri"/>
              </a:defRPr>
            </a:pPr>
            <a:r>
              <a:t>Big Bird is Watching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0" y="3108960"/>
            <a:ext cx="265176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66666"/>
                </a:solidFill>
                <a:latin typeface="Calibri"/>
              </a:defRPr>
            </a:pPr>
            <a:r>
              <a:t>Design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Felix Peng  •  April 2026  •  Harvey Mudd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The Game of Democracy  •  Instructors: H. Nembhard &amp; K. Fandell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TEAM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People trust machines to be objective—even when they’re not. Across hiring, policing, credit scoring, and content curation, opaque algorithms classify people by demographic proxies and produce authoritative-feeling numbers built on bias.</a:t>
            </a:r>
          </a:p>
          <a:p>
            <a:pPr>
              <a:spcBef>
                <a:spcPts val="20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Big Bird is Watching You makes that dynamic visible. An AI classifies participants by race, gender, age, and socioeconomic status, runs theatrical “calculations,” then delivers a meaningless score—a random expression like “√−7” or “ℵ₀.” Demographics have zero weight. The score is pure noise.</a:t>
            </a:r>
          </a:p>
          <a:p>
            <a:pPr>
              <a:spcBef>
                <a:spcPts val="2000"/>
              </a:spcBef>
              <a:defRPr sz="2000" b="1">
                <a:solidFill>
                  <a:srgbClr val="B8962A"/>
                </a:solidFill>
                <a:latin typeface="Calibri"/>
              </a:defRPr>
            </a:pPr>
            <a:r>
              <a:t>The piece succeeds when participants question whether any algorithmic score they’ve received was more meaningful than this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sz="1800">
                <a:solidFill>
                  <a:srgbClr val="333333"/>
                </a:solidFill>
                <a:latin typeface="Calibri"/>
              </a:rPr>
              <a:t>Modified 22″ Big Bird plush with Pi 5, camera (eye), speaker (throat), 7″ display (chest)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100mm red arcade button on wooden podium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Button → photo → AI demographics → calculation theater → Leadership Index (~30s)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2A"/>
                </a:solidFill>
                <a:latin typeface="Calibri"/>
              </a:defRPr>
            </a:pPr>
            <a:r>
              <a:t>Phase 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urier New"/>
              </a:defRPr>
            </a:pPr>
            <a:r>
              <a:t>IDLE → CAPTURING → ANALYZING → CALCULATING → REVEALING → IDLE</a:t>
            </a:r>
          </a:p>
        </p:txBody>
      </p:sp>
      <p:pic>
        <p:nvPicPr>
          <p:cNvPr id="7" name="Picture 6" descr="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389120" cy="50362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Feel: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b="1" sz="1700">
                <a:solidFill>
                  <a:srgbClr val="B8962A"/>
                </a:solidFill>
                <a:latin typeface="Calibri"/>
              </a:rPr>
              <a:t>Discomfort wrapped in fun —  </a:t>
            </a:r>
            <a:r>
              <a:rPr sz="1700">
                <a:solidFill>
                  <a:srgbClr val="333333"/>
                </a:solidFill>
                <a:latin typeface="Calibri"/>
              </a:rPr>
              <a:t>cheerful aesthetic, then classified by a children’s character</a:t>
            </a:r>
          </a:p>
          <a:p>
            <a:pPr>
              <a:spcBef>
                <a:spcPts val="16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Urge to compare, then can’t —  </a:t>
            </a:r>
            <a:r>
              <a:rPr sz="1700">
                <a:solidFill>
                  <a:srgbClr val="333333"/>
                </a:solidFill>
                <a:latin typeface="Calibri"/>
              </a:rPr>
              <a:t>“negative pi” vs. “ℵ₀” is structurally impossible</a:t>
            </a:r>
          </a:p>
          <a:p>
            <a:pPr>
              <a:spcBef>
                <a:spcPts val="16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Self-interrogation —  </a:t>
            </a:r>
            <a:r>
              <a:rPr sz="1700">
                <a:solidFill>
                  <a:srgbClr val="333333"/>
                </a:solidFill>
                <a:latin typeface="Calibri"/>
              </a:rPr>
              <a:t>did the machine judge me? It didn’t. Every weight is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Learn: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sz="1700">
                <a:solidFill>
                  <a:srgbClr val="333333"/>
                </a:solidFill>
                <a:latin typeface="Calibri"/>
              </a:rPr>
              <a:t>Algorithmic demographic judgments are pervasive and often just as arbitrary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Being “scored” is a political experience, not a neutral one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Randomness can be more honest than biased systems pretending to be objective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THEMATIC INTEGRATION — DEMOCRATIC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Manin — The Logic of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Athenians used sortition because it was more democratic than election—the kleroterion gave every citizen equal probability of serving.</a:t>
            </a:r>
          </a:p>
          <a:p>
            <a:pPr>
              <a:spcBef>
                <a:spcPts val="16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Big Bird treats every participant equally via random output. Unlike the kleroterion, it wraps randomness in pseudoscientific authority—exposing how easily we accept machine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Volić — Broken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Democratic mechanisms are “broken at a fundamental level”—mathematical structures that look fair but produce disconnected outcomes.</a:t>
            </a:r>
          </a:p>
          <a:p>
            <a:pPr>
              <a:spcBef>
                <a:spcPts val="16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“Leadership Index” looks like a real calculation, but the math is theater. Participants experience what Volić describes: a mechanism that appears rigorous but produces meaningless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THEMATIC INTEGRATION — DEMOCRATIC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Allen — Political Equality as Flourishing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Allen: flourishing requires non-domination, epistemic egalitarianism, and reciprocity.</a:t>
            </a:r>
          </a:p>
          <a:p>
            <a:pPr>
              <a:spcBef>
                <a:spcPts val="18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Big Bird inverts all three. The machine classifies you by categories you didn’t choose and issues a score you can’t contest. No reciprocity. The “epistemic” process is fake. Allen’s “difference without domination”—Big Bird shows what violation looks like.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THEMATIC INTEGRATION — AESTHETIC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8962A"/>
                </a:solidFill>
                <a:latin typeface="Calibri"/>
              </a:defRPr>
            </a:pPr>
            <a:r>
              <a:t>Dunne &amp; Raby — Speculative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 “physical fiction”—nobody believes it’s real, but being classified and scored produces genuine discomfort. The puppet’s absurdity makes the viewer do the interpretive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8962A"/>
                </a:solidFill>
                <a:latin typeface="Calibri"/>
              </a:defRPr>
            </a:pPr>
            <a:r>
              <a:t>Flanagan — Critical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Participants press the button, stand for evaluation, hear demographics aloud. Game-show framing makes it feel fun while forcing engagement with uncomfortable ideas.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8962A"/>
                </a:solidFill>
                <a:latin typeface="Calibri"/>
              </a:defRPr>
            </a:pPr>
            <a:r>
              <a:t>Scale &amp; Color — After Taryn Simon’s Kleroterion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Intimate scale (child-height puppet, 7″ screen, small podium) vs. the kleroterion’s monumental civic presence. Black-and-gold palette from Big Bird’s plumage; clay-textured swirl inspired by Quiplash.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MECHANICS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sz="1700">
                <a:solidFill>
                  <a:srgbClr val="333333"/>
                </a:solidFill>
                <a:latin typeface="Calibri"/>
              </a:rPr>
              <a:t>One participant at a time; button locks during eval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Press red button = only input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Camera → AI demographics → theater → Leadership Index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Demographics have zero weight; score is random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Scores are incomparable (irrational, imaginary, transfinite)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No debrief—ambiguity is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Score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b="1" sz="1700">
                <a:solidFill>
                  <a:srgbClr val="B8962A"/>
                </a:solidFill>
                <a:latin typeface="Calibri"/>
              </a:rPr>
              <a:t>50%  </a:t>
            </a:r>
            <a:r>
              <a:rPr sz="1700">
                <a:solidFill>
                  <a:srgbClr val="333333"/>
                </a:solidFill>
                <a:latin typeface="Calibri"/>
              </a:rPr>
              <a:t>Normal reals (347.29, −14.6, 7/83)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25%  </a:t>
            </a:r>
            <a:r>
              <a:rPr sz="1700">
                <a:solidFill>
                  <a:srgbClr val="333333"/>
                </a:solidFill>
                <a:latin typeface="Calibri"/>
              </a:rPr>
              <a:t>Irrational compositions (5π, φ + √3)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25%  </a:t>
            </a:r>
            <a:r>
              <a:rPr sz="1700">
                <a:solidFill>
                  <a:srgbClr val="333333"/>
                </a:solidFill>
                <a:latin typeface="Calibri"/>
              </a:rPr>
              <a:t>Wild (14 + 37i, ℵ₀ + 42, det|M|)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generate_score() takes zero arguments.</a:t>
            </a:r>
            <a:br/>
            <a:r>
              <a:t>Demographics have no code path to the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FUNCTIONAL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b="1" sz="1700">
                <a:solidFill>
                  <a:srgbClr val="B8962A"/>
                </a:solidFill>
                <a:latin typeface="Calibri"/>
              </a:rPr>
              <a:t>Enclosure:  </a:t>
            </a:r>
            <a:r>
              <a:rPr sz="1700">
                <a:solidFill>
                  <a:srgbClr val="333333"/>
                </a:solidFill>
                <a:latin typeface="Calibri"/>
              </a:rPr>
              <a:t>22″ Big Bird plush (seam-cut cavity) + pine wood podium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Compute:  </a:t>
            </a:r>
            <a:r>
              <a:rPr sz="1700">
                <a:solidFill>
                  <a:srgbClr val="333333"/>
                </a:solidFill>
                <a:latin typeface="Calibri"/>
              </a:rPr>
              <a:t>Raspberry Pi 5 (8GB), Flask + Chromium kiosk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Camera:  </a:t>
            </a:r>
            <a:r>
              <a:rPr sz="1700">
                <a:solidFill>
                  <a:srgbClr val="333333"/>
                </a:solidFill>
                <a:latin typeface="Calibri"/>
              </a:rPr>
              <a:t>Pi Camera Module 3 (IMX708) via CSI cable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Audio:  </a:t>
            </a:r>
            <a:r>
              <a:rPr sz="1700">
                <a:solidFill>
                  <a:srgbClr val="333333"/>
                </a:solidFill>
                <a:latin typeface="Calibri"/>
              </a:rPr>
              <a:t>USB audio → 3W speaker; TTS via Web Speech API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Input:  </a:t>
            </a:r>
            <a:r>
              <a:rPr sz="1700">
                <a:solidFill>
                  <a:srgbClr val="333333"/>
                </a:solidFill>
                <a:latin typeface="Calibri"/>
              </a:rPr>
              <a:t>100mm arcade button on GPIO 17 (debounce, locks during eval)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Display:  </a:t>
            </a:r>
            <a:r>
              <a:rPr sz="1700">
                <a:solidFill>
                  <a:srgbClr val="333333"/>
                </a:solidFill>
                <a:latin typeface="Calibri"/>
              </a:rPr>
              <a:t>7″ IPS HDMI, 1024×600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Network:  </a:t>
            </a:r>
            <a:r>
              <a:rPr sz="1700">
                <a:solidFill>
                  <a:srgbClr val="333333"/>
                </a:solidFill>
                <a:latin typeface="Calibri"/>
              </a:rPr>
              <a:t>Wi-Fi for OpenAI API; everything else localhost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Aesthetic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sz="1700">
                <a:solidFill>
                  <a:srgbClr val="333333"/>
                </a:solidFill>
                <a:latin typeface="Calibri"/>
              </a:rPr>
              <a:t>Jackbox/Quiplash UI: gold-on-black, chunky type, playful animations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Live camera feed on idle with surveillance corners + REC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Demographic readout shifts to clinical monospaced layout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Camera-flash on capture; bouncy scale-up on score reveal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365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B8962A"/>
                </a:solidFill>
                <a:latin typeface="Calibri"/>
              </a:defRPr>
            </a:pPr>
            <a:r>
              <a:t>Limit: $333   |   Estimated: $215   |   Remaining: ~$118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18872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1097280"/>
                <a:gridCol w="2103120"/>
              </a:tblGrid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B89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B89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B89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B8962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Hard Goods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Big Bird Plush (22″)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Pine Wood Box (podium)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Raspberry Pi 5 (8GB)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Owned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 Camera Module 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Owned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7″ IPS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$37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Arcade Button (100mm)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Speaker + USB 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Cooler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Cables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HDMI, CSI, Audio, USB, Jumpers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$43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Misc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Finishes, consumables, adhesives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Surge Protector Power Strip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Services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OpenAI API (gpt-4o-mini)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963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ESTIMATED TOTAL</a:t>
                      </a:r>
                    </a:p>
                  </a:txBody>
                  <a:tcPr>
                    <a:solidFill>
                      <a:srgbClr val="F5F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8962A"/>
                          </a:solidFill>
                          <a:latin typeface="Calibri"/>
                        </a:defRPr>
                      </a:pPr>
                      <a:r>
                        <a:t>$215</a:t>
                      </a:r>
                    </a:p>
                  </a:txBody>
                  <a:tcPr>
                    <a:solidFill>
                      <a:srgbClr val="F5F0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Independence from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generate_score() takes zero arguments. No access to demographic data. Completely separate code paths, no shared state.</a:t>
            </a:r>
          </a:p>
          <a:p>
            <a:pPr>
              <a:spcBef>
                <a:spcPts val="1600"/>
              </a:spcBef>
              <a:defRPr sz="1300" b="0">
                <a:solidFill>
                  <a:srgbClr val="666666"/>
                </a:solidFill>
                <a:latin typeface="Courier New"/>
              </a:defRPr>
            </a:pPr>
            <a:r>
              <a:t>demographics = _call_vision_api(img)</a:t>
            </a:r>
            <a:br/>
            <a:r>
              <a:t>score = generate_score()  # purely random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62A"/>
                </a:solidFill>
                <a:latin typeface="Calibri"/>
              </a:defRPr>
            </a:pPr>
            <a:r>
              <a:t>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b="1" sz="1700">
                <a:solidFill>
                  <a:srgbClr val="B8962A"/>
                </a:solidFill>
                <a:latin typeface="Calibri"/>
              </a:rPr>
              <a:t>API down:  </a:t>
            </a:r>
            <a:r>
              <a:rPr sz="1700">
                <a:solidFill>
                  <a:srgbClr val="333333"/>
                </a:solidFill>
                <a:latin typeface="Calibri"/>
              </a:rPr>
              <a:t>skip demographics, deliver random score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Camera covered:  </a:t>
            </a:r>
            <a:r>
              <a:rPr sz="1700">
                <a:solidFill>
                  <a:srgbClr val="333333"/>
                </a:solidFill>
                <a:latin typeface="Calibri"/>
              </a:rPr>
              <a:t>“SUBJECT DEFIES CLASSIFICATION”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Button spam:  </a:t>
            </a:r>
            <a:r>
              <a:rPr sz="1700">
                <a:solidFill>
                  <a:srgbClr val="333333"/>
                </a:solidFill>
                <a:latin typeface="Calibri"/>
              </a:rPr>
              <a:t>locked during eval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Speaker fails:  </a:t>
            </a:r>
            <a:r>
              <a:rPr sz="1700">
                <a:solidFill>
                  <a:srgbClr val="333333"/>
                </a:solidFill>
                <a:latin typeface="Calibri"/>
              </a:rPr>
              <a:t>visual display still works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B8962A"/>
                </a:solidFill>
                <a:latin typeface="Calibri"/>
              </a:rPr>
              <a:t>Overheating:  </a:t>
            </a:r>
            <a:r>
              <a:rPr sz="1700">
                <a:solidFill>
                  <a:srgbClr val="333333"/>
                </a:solidFill>
                <a:latin typeface="Calibri"/>
              </a:rPr>
              <a:t>active cooler, stays &lt;56°C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Power:  ~13–20W total within 27W PSU  (Pi 5: 5–12W  |  Display: 2.5W  |  Camera: 1.5W  |  Audio: &lt;3W)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962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25400"/>
          </a:xfrm>
          <a:prstGeom prst="rect">
            <a:avLst/>
          </a:prstGeom>
          <a:solidFill>
            <a:srgbClr val="B8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Manin, B. (1997). "Direct democracy and representation." The Principles of Representative Government, pp. 8–41.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Volić, I. (2024). "Americans agree politics is broken." The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Allen, D. (2023). Justice by Means of Democracy, Ch. 2. U of Chicago 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Dunne, A. &amp; Raby, F. (2013). Speculative Everything, Ch. 6. MIT Press.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Flanagan, M. (2009). Critical Play, Ch. 8. MIT 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